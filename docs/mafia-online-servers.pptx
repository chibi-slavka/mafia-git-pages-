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713232"/>
            <a:ext cx="2011680" cy="201168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34440" y="5897880"/>
            <a:ext cx="2103120" cy="210312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466344"/>
            <a:ext cx="50292" cy="283464"/>
          </a:xfrm>
          <a:prstGeom prst="rect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6344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B184"/>
                </a:solidFill>
                <a:latin typeface="Aptos"/>
              </a:rPr>
              <a:t>ПРОЕКТНАЯ СХЕМА  •  29 ОКТЯБРЯ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0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55624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17D8C"/>
                </a:solidFill>
                <a:latin typeface="Aptos"/>
              </a:rPr>
              <a:t>MAFIA-2026  /  СЕРВЕРЫ И ОНЛАЙН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01  / 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1261872"/>
            <a:ext cx="59436" cy="4297680"/>
          </a:xfrm>
          <a:prstGeom prst="rect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3258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5F2EE"/>
                </a:solidFill>
                <a:latin typeface="Aptos"/>
              </a:rPr>
              <a:t>МАФИЯ
В ОНЛАЙНЕ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246120"/>
            <a:ext cx="53035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0BC"/>
                </a:solidFill>
                <a:latin typeface="Aptos"/>
              </a:rPr>
              <a:t>Серверы, Socket.IO и обмен данными
в проекте Mafia-2026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4663440"/>
            <a:ext cx="1508760" cy="310896"/>
          </a:xfrm>
          <a:prstGeom prst="roundRect">
            <a:avLst/>
          </a:prstGeom>
          <a:solidFill>
            <a:srgbClr val="1B2430"/>
          </a:solidFill>
          <a:ln w="12700">
            <a:solidFill>
              <a:srgbClr val="1B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668012"/>
            <a:ext cx="1399031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6B184"/>
                </a:solidFill>
                <a:latin typeface="Aptos"/>
              </a:rPr>
              <a:t>GITHUB PAGES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1488" y="4663440"/>
            <a:ext cx="1051560" cy="310896"/>
          </a:xfrm>
          <a:prstGeom prst="roundRect">
            <a:avLst/>
          </a:prstGeom>
          <a:solidFill>
            <a:srgbClr val="1B2430"/>
          </a:solidFill>
          <a:ln w="12700">
            <a:solidFill>
              <a:srgbClr val="1B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4668012"/>
            <a:ext cx="941831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DB6DE"/>
                </a:solidFill>
                <a:latin typeface="Aptos"/>
              </a:rPr>
              <a:t>RENDER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50208" y="4663440"/>
            <a:ext cx="1325880" cy="310896"/>
          </a:xfrm>
          <a:prstGeom prst="roundRect">
            <a:avLst/>
          </a:prstGeom>
          <a:solidFill>
            <a:srgbClr val="1B2430"/>
          </a:solidFill>
          <a:ln w="12700">
            <a:solidFill>
              <a:srgbClr val="1B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4668012"/>
            <a:ext cx="12161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536C"/>
                </a:solidFill>
                <a:latin typeface="Aptos"/>
              </a:rPr>
              <a:t>SOCKET.IO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239512"/>
            <a:ext cx="5669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17D8C"/>
                </a:solidFill>
                <a:latin typeface="Aptos"/>
              </a:rPr>
              <a:t>Клиент в браузере  →  игровой сервер  →  общая партия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1170432"/>
            <a:ext cx="3840480" cy="114300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18120" y="1417320"/>
            <a:ext cx="868680" cy="274320"/>
          </a:xfrm>
          <a:prstGeom prst="roundRect">
            <a:avLst/>
          </a:prstGeom>
          <a:solidFill>
            <a:srgbClr val="EF536C"/>
          </a:solidFill>
          <a:ln w="12700">
            <a:solidFill>
              <a:srgbClr val="EF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2984" y="1421892"/>
            <a:ext cx="7589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2EE"/>
                </a:solidFill>
                <a:latin typeface="Aptos"/>
              </a:rPr>
              <a:t>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325880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E"/>
                </a:solidFill>
                <a:latin typeface="Aptos"/>
              </a:rPr>
              <a:t>index.html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6916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7B0BC"/>
                </a:solidFill>
                <a:latin typeface="Aptos"/>
              </a:rPr>
              <a:t>Страница и Socket.IO client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64040" y="2331720"/>
            <a:ext cx="0" cy="411480"/>
          </a:xfrm>
          <a:prstGeom prst="line">
            <a:avLst/>
          </a:prstGeom>
          <a:ln w="25400">
            <a:solidFill>
              <a:srgbClr val="D6B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43800" y="2761488"/>
            <a:ext cx="3840480" cy="1024128"/>
          </a:xfrm>
          <a:prstGeom prst="roundRect">
            <a:avLst/>
          </a:prstGeom>
          <a:solidFill>
            <a:srgbClr val="1B2430"/>
          </a:solidFill>
          <a:ln w="12700">
            <a:solidFill>
              <a:srgbClr val="EF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18120" y="3063240"/>
            <a:ext cx="868680" cy="274320"/>
          </a:xfrm>
          <a:prstGeom prst="roundRect">
            <a:avLst/>
          </a:prstGeom>
          <a:solidFill>
            <a:srgbClr val="D6B184"/>
          </a:solidFill>
          <a:ln w="12700">
            <a:solidFill>
              <a:srgbClr val="D6B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72984" y="3067812"/>
            <a:ext cx="7589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0A0F"/>
                </a:solidFill>
                <a:latin typeface="Aptos"/>
              </a:rPr>
              <a:t>EVENT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971800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E"/>
                </a:solidFill>
                <a:latin typeface="Aptos"/>
              </a:rPr>
              <a:t>mafia:message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34670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7B0BC"/>
                </a:solidFill>
                <a:latin typeface="Aptos"/>
              </a:rPr>
              <a:t>Путь /socket.io · HTTPS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64040" y="3803904"/>
            <a:ext cx="0" cy="420624"/>
          </a:xfrm>
          <a:prstGeom prst="line">
            <a:avLst/>
          </a:prstGeom>
          <a:ln w="25400">
            <a:solidFill>
              <a:srgbClr val="D6B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543800" y="4251960"/>
            <a:ext cx="3840480" cy="114300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18120" y="4562856"/>
            <a:ext cx="868680" cy="274320"/>
          </a:xfrm>
          <a:prstGeom prst="roundRect">
            <a:avLst/>
          </a:prstGeom>
          <a:solidFill>
            <a:srgbClr val="8DB6DE"/>
          </a:solidFill>
          <a:ln w="12700">
            <a:solidFill>
              <a:srgbClr val="8DB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72984" y="4567428"/>
            <a:ext cx="7589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0A0F"/>
                </a:solidFill>
                <a:latin typeface="Aptos"/>
              </a:rPr>
              <a:t>SERVER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462272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E"/>
                </a:solidFill>
                <a:latin typeface="Aptos"/>
              </a:rPr>
              <a:t>Node.js · Render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846320"/>
            <a:ext cx="224028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7B0BC"/>
                </a:solidFill>
                <a:latin typeface="Aptos"/>
              </a:rPr>
              <a:t>Комнаты, роли, таймеры, чат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713232"/>
            <a:ext cx="2011680" cy="201168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34440" y="5897880"/>
            <a:ext cx="2103120" cy="210312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466344"/>
            <a:ext cx="50292" cy="283464"/>
          </a:xfrm>
          <a:prstGeom prst="rect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6344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B184"/>
                </a:solidFill>
                <a:latin typeface="Aptos"/>
              </a:rPr>
              <a:t>01  /  ONLINE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0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55624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17D8C"/>
                </a:solidFill>
                <a:latin typeface="Aptos"/>
              </a:rPr>
              <a:t>MAFIA-2026  /  СЕРВЕРЫ И ОНЛАЙН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02  /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E"/>
                </a:solidFill>
                <a:latin typeface="Aptos"/>
              </a:rPr>
              <a:t>Клиент и сервер — разные среды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0BC"/>
                </a:solidFill>
                <a:latin typeface="Aptos"/>
              </a:rPr>
              <a:t>Статический сайт показывает интерфейс. Отдельный процесс хранит совместное состояние партии.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057400"/>
            <a:ext cx="4983480" cy="33832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" y="2350008"/>
            <a:ext cx="1097280" cy="292608"/>
          </a:xfrm>
          <a:prstGeom prst="roundRect">
            <a:avLst/>
          </a:prstGeom>
          <a:solidFill>
            <a:srgbClr val="EF536C"/>
          </a:solidFill>
          <a:ln w="12700">
            <a:solidFill>
              <a:srgbClr val="EF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354579"/>
            <a:ext cx="9875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2EE"/>
                </a:solidFill>
                <a:latin typeface="Aptos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788920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2EE"/>
                </a:solidFill>
                <a:latin typeface="Aptos"/>
              </a:rPr>
              <a:t>GitHub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3375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6B184"/>
                </a:solidFill>
                <a:latin typeface="Aptos"/>
              </a:rPr>
              <a:t>Что делает клиент</a:t>
            </a:r>
          </a:p>
        </p:txBody>
      </p:sp>
      <p:sp>
        <p:nvSpPr>
          <p:cNvPr id="17" name="Oval 16"/>
          <p:cNvSpPr/>
          <p:nvPr/>
        </p:nvSpPr>
        <p:spPr>
          <a:xfrm>
            <a:off x="987552" y="3822191"/>
            <a:ext cx="77724" cy="77724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03320"/>
            <a:ext cx="4142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2EE"/>
                </a:solidFill>
                <a:latin typeface="Aptos"/>
              </a:rPr>
              <a:t>Отдаёт index.html и браузерную библиотеку Socket.IO</a:t>
            </a:r>
          </a:p>
        </p:txBody>
      </p:sp>
      <p:sp>
        <p:nvSpPr>
          <p:cNvPr id="19" name="Oval 18"/>
          <p:cNvSpPr/>
          <p:nvPr/>
        </p:nvSpPr>
        <p:spPr>
          <a:xfrm>
            <a:off x="987552" y="4434840"/>
            <a:ext cx="77724" cy="77724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315968"/>
            <a:ext cx="4142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2EE"/>
                </a:solidFill>
                <a:latin typeface="Aptos"/>
              </a:rPr>
              <a:t>Рисует лобби, игроков, чат и игровые экраны</a:t>
            </a:r>
          </a:p>
        </p:txBody>
      </p:sp>
      <p:sp>
        <p:nvSpPr>
          <p:cNvPr id="21" name="Oval 20"/>
          <p:cNvSpPr/>
          <p:nvPr/>
        </p:nvSpPr>
        <p:spPr>
          <a:xfrm>
            <a:off x="987552" y="4974336"/>
            <a:ext cx="77724" cy="77724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855464"/>
            <a:ext cx="4142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2EE"/>
                </a:solidFill>
                <a:latin typeface="Aptos"/>
              </a:rPr>
              <a:t>Не запускает Node.js и не хранит общую игру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057400"/>
            <a:ext cx="4983480" cy="33832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0" y="2350008"/>
            <a:ext cx="1097280" cy="292608"/>
          </a:xfrm>
          <a:prstGeom prst="roundRect">
            <a:avLst/>
          </a:prstGeom>
          <a:solidFill>
            <a:srgbClr val="8DB6DE"/>
          </a:solidFill>
          <a:ln w="12700">
            <a:solidFill>
              <a:srgbClr val="8DB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1424" y="2354579"/>
            <a:ext cx="9875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0A0F"/>
                </a:solidFill>
                <a:latin typeface="Aptos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788920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2EE"/>
                </a:solidFill>
                <a:latin typeface="Aptos"/>
              </a:rPr>
              <a:t>Render Web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3375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6B184"/>
                </a:solidFill>
                <a:latin typeface="Aptos"/>
              </a:rPr>
              <a:t>Что делает сервер</a:t>
            </a:r>
          </a:p>
        </p:txBody>
      </p:sp>
      <p:sp>
        <p:nvSpPr>
          <p:cNvPr id="28" name="Oval 27"/>
          <p:cNvSpPr/>
          <p:nvPr/>
        </p:nvSpPr>
        <p:spPr>
          <a:xfrm>
            <a:off x="6766560" y="3822191"/>
            <a:ext cx="77724" cy="77724"/>
          </a:xfrm>
          <a:prstGeom prst="ellipse">
            <a:avLst/>
          </a:prstGeom>
          <a:solidFill>
            <a:srgbClr val="8D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3703320"/>
            <a:ext cx="4142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2EE"/>
                </a:solidFill>
                <a:latin typeface="Aptos"/>
              </a:rPr>
              <a:t>Запускает Node.js + Socket.IO</a:t>
            </a:r>
          </a:p>
        </p:txBody>
      </p:sp>
      <p:sp>
        <p:nvSpPr>
          <p:cNvPr id="30" name="Oval 29"/>
          <p:cNvSpPr/>
          <p:nvPr/>
        </p:nvSpPr>
        <p:spPr>
          <a:xfrm>
            <a:off x="6766560" y="4361688"/>
            <a:ext cx="77724" cy="77724"/>
          </a:xfrm>
          <a:prstGeom prst="ellipse">
            <a:avLst/>
          </a:prstGeom>
          <a:solidFill>
            <a:srgbClr val="8D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4242816"/>
            <a:ext cx="4142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2EE"/>
                </a:solidFill>
                <a:latin typeface="Aptos"/>
              </a:rPr>
              <a:t>Проверяет команды и права ведущего/игроков</a:t>
            </a:r>
          </a:p>
        </p:txBody>
      </p:sp>
      <p:sp>
        <p:nvSpPr>
          <p:cNvPr id="32" name="Oval 31"/>
          <p:cNvSpPr/>
          <p:nvPr/>
        </p:nvSpPr>
        <p:spPr>
          <a:xfrm>
            <a:off x="6766560" y="4974336"/>
            <a:ext cx="77724" cy="77724"/>
          </a:xfrm>
          <a:prstGeom prst="ellipse">
            <a:avLst/>
          </a:prstGeom>
          <a:solidFill>
            <a:srgbClr val="8D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4855464"/>
            <a:ext cx="4142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2EE"/>
                </a:solidFill>
                <a:latin typeface="Aptos"/>
              </a:rPr>
              <a:t>Ведёт комнаты, роли, фазы, таймер и голосование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788152" y="3419856"/>
            <a:ext cx="457200" cy="365760"/>
          </a:xfrm>
          <a:prstGeom prst="rightArrow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32704" y="3895344"/>
            <a:ext cx="777240" cy="256032"/>
          </a:xfrm>
          <a:prstGeom prst="roundRect">
            <a:avLst/>
          </a:prstGeom>
          <a:solidFill>
            <a:srgbClr val="1B2430"/>
          </a:solidFill>
          <a:ln w="12700">
            <a:solidFill>
              <a:srgbClr val="1B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87568" y="3899915"/>
            <a:ext cx="6675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6B184"/>
                </a:solidFill>
                <a:latin typeface="Aptos"/>
              </a:rPr>
              <a:t>HTTPS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00200" y="5641848"/>
            <a:ext cx="9006840" cy="502920"/>
          </a:xfrm>
          <a:prstGeom prst="roundRect">
            <a:avLst/>
          </a:prstGeom>
          <a:solidFill>
            <a:srgbClr val="10151C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83080" y="5724144"/>
            <a:ext cx="8641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2EE"/>
                </a:solidFill>
                <a:latin typeface="Aptos"/>
              </a:rPr>
              <a:t>Итог: Pages публикует интерфейс, Render обслуживает онлайн-партию.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713232"/>
            <a:ext cx="2011680" cy="201168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34440" y="5897880"/>
            <a:ext cx="2103120" cy="210312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466344"/>
            <a:ext cx="50292" cy="283464"/>
          </a:xfrm>
          <a:prstGeom prst="rect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6344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B184"/>
                </a:solidFill>
                <a:latin typeface="Aptos"/>
              </a:rPr>
              <a:t>02  /  ONLINE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0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55624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17D8C"/>
                </a:solidFill>
                <a:latin typeface="Aptos"/>
              </a:rPr>
              <a:t>MAFIA-2026  /  СЕРВЕРЫ И ОНЛАЙН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03  /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E"/>
                </a:solidFill>
                <a:latin typeface="Aptos"/>
              </a:rPr>
              <a:t>Архитектура обмена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0BC"/>
                </a:solidFill>
                <a:latin typeface="Aptos"/>
              </a:rPr>
              <a:t>Браузер подключается к Render по Socket.IO; каждый ответ содержит тип события и данные игры.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148840"/>
            <a:ext cx="2331720" cy="1353312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6384" y="2331720"/>
            <a:ext cx="384048" cy="384048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331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2EE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3134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E"/>
                </a:solidFill>
                <a:latin typeface="Aptos"/>
              </a:rPr>
              <a:t>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15768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7B0BC"/>
                </a:solidFill>
                <a:latin typeface="Aptos"/>
              </a:rPr>
              <a:t>index.html
статические файлы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2148840"/>
            <a:ext cx="2331720" cy="1353312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331720"/>
            <a:ext cx="384048" cy="384048"/>
          </a:xfrm>
          <a:prstGeom prst="ellipse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31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2EE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3134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E"/>
                </a:solidFill>
                <a:latin typeface="Aptos"/>
              </a:rPr>
              <a:t>Браузер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715768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7B0BC"/>
                </a:solidFill>
                <a:latin typeface="Aptos"/>
              </a:rPr>
              <a:t>UI + локальный
Socket.IO client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08192" y="2148840"/>
            <a:ext cx="2331720" cy="1353312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72783" y="2331720"/>
            <a:ext cx="384048" cy="384048"/>
          </a:xfrm>
          <a:prstGeom prst="ellipse">
            <a:avLst/>
          </a:prstGeom>
          <a:solidFill>
            <a:srgbClr val="69D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3" y="2331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2EE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23134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E"/>
                </a:solidFill>
                <a:latin typeface="Aptos"/>
              </a:rPr>
              <a:t>Socket.IO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2715768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7B0BC"/>
                </a:solidFill>
                <a:latin typeface="Aptos"/>
              </a:rPr>
              <a:t>HTTPS · /socket.io
event: mafia:message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51392" y="2148840"/>
            <a:ext cx="2697480" cy="1353312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15984" y="2331720"/>
            <a:ext cx="384048" cy="384048"/>
          </a:xfrm>
          <a:prstGeom prst="ellipse">
            <a:avLst/>
          </a:prstGeom>
          <a:solidFill>
            <a:srgbClr val="8D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5984" y="2331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2EE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31343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E"/>
                </a:solidFill>
                <a:latin typeface="Aptos"/>
              </a:rPr>
              <a:t>Render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715768"/>
            <a:ext cx="187452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7B0BC"/>
                </a:solidFill>
                <a:latin typeface="Aptos"/>
              </a:rPr>
              <a:t>Node.js · сервер
server/index.js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999232" y="2651760"/>
            <a:ext cx="292608" cy="256032"/>
          </a:xfrm>
          <a:prstGeom prst="rightArrow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5742432" y="2651760"/>
            <a:ext cx="292608" cy="256032"/>
          </a:xfrm>
          <a:prstGeom prst="rightArrow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8485632" y="2651760"/>
            <a:ext cx="292608" cy="256032"/>
          </a:xfrm>
          <a:prstGeom prst="rightArrow">
            <a:avLst/>
          </a:prstGeom>
          <a:solidFill>
            <a:srgbClr val="69D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0" y="309067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статика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09067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соединение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09067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события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160520"/>
            <a:ext cx="5212080" cy="13258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3982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6B184"/>
                </a:solidFill>
                <a:latin typeface="Aptos"/>
              </a:rPr>
              <a:t>Входящее событие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754880"/>
            <a:ext cx="4572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E"/>
                </a:solidFill>
                <a:latin typeface="Consolas"/>
              </a:rPr>
              <a:t>type: hello  ·  protocol: Mafia-2026
clientId  ·  playerName  ·  roomCode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5352" y="4160520"/>
            <a:ext cx="5212080" cy="13258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43982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DB6DE"/>
                </a:solidFill>
                <a:latin typeface="Aptos"/>
              </a:rPr>
              <a:t>Ответ сервера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9672" y="4754880"/>
            <a:ext cx="4572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E"/>
                </a:solidFill>
                <a:latin typeface="Consolas"/>
              </a:rPr>
              <a:t>rooms_list  ·  room_state  ·  timer
role  ·  chat/state  ·  notification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806440"/>
            <a:ext cx="10378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0BC"/>
                </a:solidFill>
                <a:latin typeface="Aptos"/>
              </a:rPr>
              <a:t>GitHub Pages и Render — два отдельных сервиса; соединение создаёт браузер игрока.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713232"/>
            <a:ext cx="2011680" cy="201168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34440" y="5897880"/>
            <a:ext cx="2103120" cy="210312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466344"/>
            <a:ext cx="50292" cy="283464"/>
          </a:xfrm>
          <a:prstGeom prst="rect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6344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B184"/>
                </a:solidFill>
                <a:latin typeface="Aptos"/>
              </a:rPr>
              <a:t>03  /  ONLINE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0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55624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17D8C"/>
                </a:solidFill>
                <a:latin typeface="Aptos"/>
              </a:rPr>
              <a:t>MAFIA-2026  /  СЕРВЕРЫ И ОНЛАЙН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04  /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E"/>
                </a:solidFill>
                <a:latin typeface="Aptos"/>
              </a:rPr>
              <a:t>Socket.IO — общий язык обеих сторон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0BC"/>
                </a:solidFill>
                <a:latin typeface="Aptos"/>
              </a:rPr>
              <a:t>Транспорт и события Socket.IO работают только при наличии Socket.IO client и Socket.IO server.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029968"/>
            <a:ext cx="3749039" cy="333756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" y="2304288"/>
            <a:ext cx="1325880" cy="310896"/>
          </a:xfrm>
          <a:prstGeom prst="roundRect">
            <a:avLst/>
          </a:prstGeom>
          <a:solidFill>
            <a:srgbClr val="D6B184"/>
          </a:solidFill>
          <a:ln w="12700">
            <a:solidFill>
              <a:srgbClr val="D6B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308860"/>
            <a:ext cx="12161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0A0F"/>
                </a:solidFill>
                <a:latin typeface="Aptos"/>
              </a:rPr>
              <a:t>ОДНО СОБЫТИЕ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816352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5F2EE"/>
                </a:solidFill>
                <a:latin typeface="Consolas"/>
              </a:rPr>
              <a:t>mafia:message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5021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0BC"/>
                </a:solidFill>
                <a:latin typeface="Aptos"/>
              </a:rPr>
              <a:t>Команда передаётся как JSON-объект: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931920"/>
            <a:ext cx="3246120" cy="960120"/>
          </a:xfrm>
          <a:prstGeom prst="roundRect">
            <a:avLst/>
          </a:prstGeom>
          <a:solidFill>
            <a:srgbClr val="10151C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096512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9D0A9"/>
                </a:solidFill>
                <a:latin typeface="Consolas"/>
              </a:rPr>
              <a:t>{ type: "join_room",
  code: "A7BCD"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01091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0BC"/>
                </a:solidFill>
                <a:latin typeface="Aptos"/>
              </a:rPr>
              <a:t>Сервер отвечает тем же event-каналом,
а `type` определяет содержимое.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2029968"/>
            <a:ext cx="6675120" cy="1444752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74920" y="2286000"/>
            <a:ext cx="1783080" cy="310896"/>
          </a:xfrm>
          <a:prstGeom prst="roundRect">
            <a:avLst/>
          </a:prstGeom>
          <a:solidFill>
            <a:srgbClr val="EF536C"/>
          </a:solidFill>
          <a:ln w="12700">
            <a:solidFill>
              <a:srgbClr val="EF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9783" y="2290572"/>
            <a:ext cx="16733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2EE"/>
                </a:solidFill>
                <a:latin typeface="Aptos"/>
              </a:rPr>
              <a:t>КЛИЕНТ → СЕРВЕР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788920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2EE"/>
                </a:solidFill>
                <a:latin typeface="Consolas"/>
              </a:rPr>
              <a:t>create_room  ·  join_room  ·  leave_room  ·  chat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136392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BC"/>
                </a:solidFill>
                <a:latin typeface="Consolas"/>
              </a:rPr>
              <a:t>start_game  ·  phase_action  ·  vote  ·  host_action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3703320"/>
            <a:ext cx="6675120" cy="1664208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74920" y="3968496"/>
            <a:ext cx="1783080" cy="310896"/>
          </a:xfrm>
          <a:prstGeom prst="roundRect">
            <a:avLst/>
          </a:prstGeom>
          <a:solidFill>
            <a:srgbClr val="8DB6DE"/>
          </a:solidFill>
          <a:ln w="12700">
            <a:solidFill>
              <a:srgbClr val="8DB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9783" y="3973068"/>
            <a:ext cx="16733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0A0F"/>
                </a:solidFill>
                <a:latin typeface="Aptos"/>
              </a:rPr>
              <a:t>СЕРВЕР → КЛИЕНТ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480560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2EE"/>
                </a:solidFill>
                <a:latin typeface="Consolas"/>
              </a:rPr>
              <a:t>room_state  ·  rooms_list  ·  role  ·  timer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86460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BC"/>
                </a:solidFill>
                <a:latin typeface="Consolas"/>
              </a:rPr>
              <a:t>notification  ·  history  ·  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5669280"/>
            <a:ext cx="9966960" cy="475488"/>
          </a:xfrm>
          <a:prstGeom prst="roundRect">
            <a:avLst/>
          </a:prstGeom>
          <a:solidFill>
            <a:srgbClr val="10151C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8448" y="5742432"/>
            <a:ext cx="95646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6B184"/>
                </a:solidFill>
                <a:latin typeface="Aptos"/>
              </a:rPr>
              <a:t>Важно: Socket.IO — не «сырой» WebSocket. Нельзя подключить обычный WebSocket-клиент к Socket.IO-серверу.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713232"/>
            <a:ext cx="2011680" cy="201168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34440" y="5897880"/>
            <a:ext cx="2103120" cy="210312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466344"/>
            <a:ext cx="50292" cy="283464"/>
          </a:xfrm>
          <a:prstGeom prst="rect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6344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B184"/>
                </a:solidFill>
                <a:latin typeface="Aptos"/>
              </a:rPr>
              <a:t>04  /  ONLINE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0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55624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17D8C"/>
                </a:solidFill>
                <a:latin typeface="Aptos"/>
              </a:rPr>
              <a:t>MAFIA-2026  /  СЕРВЕРЫ И ОНЛАЙН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05  /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E"/>
                </a:solidFill>
                <a:latin typeface="Aptos"/>
              </a:rPr>
              <a:t>Сервер ведёт партию по фазам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0BC"/>
                </a:solidFill>
                <a:latin typeface="Aptos"/>
              </a:rPr>
              <a:t>Переходы и таймеры рассчитываются на сервере, а браузеры получают актуальный снимок комнаты.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48840"/>
            <a:ext cx="2057400" cy="13258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EF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" y="2350008"/>
            <a:ext cx="347472" cy="347472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3500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2EE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3500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E"/>
                </a:solidFill>
                <a:latin typeface="Aptos"/>
              </a:rPr>
              <a:t>Ночь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88950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7B0BC"/>
                </a:solidFill>
                <a:latin typeface="Aptos"/>
              </a:rPr>
              <a:t>тайные действия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2148840"/>
            <a:ext cx="2057400" cy="13258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D6B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76472" y="2350008"/>
            <a:ext cx="347472" cy="347472"/>
          </a:xfrm>
          <a:prstGeom prst="ellipse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6472" y="23500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0A0F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3500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E"/>
                </a:solidFill>
                <a:latin typeface="Aptos"/>
              </a:rPr>
              <a:t>День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048" y="288950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7B0BC"/>
                </a:solidFill>
                <a:latin typeface="Aptos"/>
              </a:rPr>
              <a:t>обсуждение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148840"/>
            <a:ext cx="2057400" cy="13258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8DB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11112" y="2350008"/>
            <a:ext cx="347472" cy="347472"/>
          </a:xfrm>
          <a:prstGeom prst="ellipse">
            <a:avLst/>
          </a:prstGeom>
          <a:solidFill>
            <a:srgbClr val="8D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23500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0A0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3500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E"/>
                </a:solidFill>
                <a:latin typeface="Aptos"/>
              </a:rPr>
              <a:t>Голосование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288950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7B0BC"/>
                </a:solidFill>
                <a:latin typeface="Aptos"/>
              </a:rPr>
              <a:t>выбор игрока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2148840"/>
            <a:ext cx="2057400" cy="13258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EF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45752" y="2350008"/>
            <a:ext cx="347472" cy="347472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45752" y="23500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2EE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3500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E"/>
                </a:solidFill>
                <a:latin typeface="Aptos"/>
              </a:rPr>
              <a:t>Ночь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2328" y="288950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7B0BC"/>
                </a:solidFill>
                <a:latin typeface="Aptos"/>
              </a:rPr>
              <a:t>новый раунд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999232" y="2651760"/>
            <a:ext cx="438912" cy="292608"/>
          </a:xfrm>
          <a:prstGeom prst="rightArrow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5833872" y="2651760"/>
            <a:ext cx="438912" cy="292608"/>
          </a:xfrm>
          <a:prstGeom prst="rightArrow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8668512" y="2651760"/>
            <a:ext cx="438912" cy="292608"/>
          </a:xfrm>
          <a:prstGeom prst="rightArrow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3977639"/>
            <a:ext cx="5074920" cy="1389888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23367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6B184"/>
                </a:solidFill>
                <a:latin typeface="Aptos"/>
              </a:rPr>
              <a:t>Ведущий управляет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681728"/>
            <a:ext cx="4526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E"/>
                </a:solidFill>
                <a:latin typeface="Consolas"/>
              </a:rPr>
              <a:t>start_game  ·  next_phase  ·  pause / resume  ·  finish_game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3977639"/>
            <a:ext cx="5074920" cy="1389888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8" y="423367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DB6DE"/>
                </a:solidFill>
                <a:latin typeface="Aptos"/>
              </a:rPr>
              <a:t>Игроки отправляют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4645152"/>
            <a:ext cx="4480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E"/>
                </a:solidFill>
                <a:latin typeface="Consolas"/>
              </a:rPr>
              <a:t>phase_action  ·  vote  ·  chat
сервер проверяет фазу, роль и права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71500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0BC"/>
                </a:solidFill>
                <a:latin typeface="Aptos"/>
              </a:rPr>
              <a:t>Таймеры серверные: даже если у игроков разный FPS или время устройства, фаза общая.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713232"/>
            <a:ext cx="2011680" cy="201168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34440" y="5897880"/>
            <a:ext cx="2103120" cy="210312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466344"/>
            <a:ext cx="50292" cy="283464"/>
          </a:xfrm>
          <a:prstGeom prst="rect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6344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B184"/>
                </a:solidFill>
                <a:latin typeface="Aptos"/>
              </a:rPr>
              <a:t>05  /  ONLINE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0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55624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17D8C"/>
                </a:solidFill>
                <a:latin typeface="Aptos"/>
              </a:rPr>
              <a:t>MAFIA-2026  /  СЕРВЕРЫ И ОНЛАЙН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06  /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E"/>
                </a:solidFill>
                <a:latin typeface="Aptos"/>
              </a:rPr>
              <a:t>Роли и права проверяются на сервере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0BC"/>
                </a:solidFill>
                <a:latin typeface="Aptos"/>
              </a:rPr>
              <a:t>Сервер — источник истины для онлайн-партии; UI не назначает роли и не принимает критичные решения локально.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057400"/>
            <a:ext cx="4754880" cy="347472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59152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6B184"/>
                </a:solidFill>
                <a:latin typeface="Aptos"/>
              </a:rPr>
              <a:t>Сервер проверяет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008376"/>
            <a:ext cx="77724" cy="77724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2889504"/>
            <a:ext cx="39593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E"/>
                </a:solidFill>
                <a:latin typeface="Aptos"/>
              </a:rPr>
              <a:t>Кто создал комнату и кто может управлять фазами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3575304"/>
            <a:ext cx="77724" cy="77724"/>
          </a:xfrm>
          <a:prstGeom prst="ellipse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" y="3456432"/>
            <a:ext cx="39593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E"/>
                </a:solidFill>
                <a:latin typeface="Aptos"/>
              </a:rPr>
              <a:t>Жив ли игрок и допустимо ли его действие сейчас</a:t>
            </a:r>
          </a:p>
        </p:txBody>
      </p:sp>
      <p:sp>
        <p:nvSpPr>
          <p:cNvPr id="18" name="Oval 17"/>
          <p:cNvSpPr/>
          <p:nvPr/>
        </p:nvSpPr>
        <p:spPr>
          <a:xfrm>
            <a:off x="1024128" y="4142232"/>
            <a:ext cx="77724" cy="77724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6" y="4023360"/>
            <a:ext cx="39593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E"/>
                </a:solidFill>
                <a:latin typeface="Aptos"/>
              </a:rPr>
              <a:t>Можно ли выбрать указанную цель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709159"/>
            <a:ext cx="77724" cy="77724"/>
          </a:xfrm>
          <a:prstGeom prst="ellipse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5296" y="4590288"/>
            <a:ext cx="39593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E"/>
                </a:solidFill>
                <a:latin typeface="Aptos"/>
              </a:rPr>
              <a:t>Как разрешить ночные действия и подсчитать голоса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2057400"/>
            <a:ext cx="5623560" cy="347472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2359152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DB6DE"/>
                </a:solidFill>
                <a:latin typeface="Aptos"/>
              </a:rPr>
              <a:t>Персональные снимки состояния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944368"/>
            <a:ext cx="2057400" cy="1417320"/>
          </a:xfrm>
          <a:prstGeom prst="roundRect">
            <a:avLst/>
          </a:prstGeom>
          <a:solidFill>
            <a:srgbClr val="10151C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3154680"/>
            <a:ext cx="960120" cy="256032"/>
          </a:xfrm>
          <a:prstGeom prst="roundRect">
            <a:avLst/>
          </a:prstGeom>
          <a:solidFill>
            <a:srgbClr val="EF536C"/>
          </a:solidFill>
          <a:ln w="12700">
            <a:solidFill>
              <a:srgbClr val="EF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3159252"/>
            <a:ext cx="8503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F2EE"/>
                </a:solidFill>
                <a:latin typeface="Aptos"/>
              </a:rPr>
              <a:t>PLAYER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84448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2EE"/>
                </a:solidFill>
                <a:latin typeface="Aptos"/>
              </a:rPr>
              <a:t>Своя роль:
Комиссар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2944368"/>
            <a:ext cx="2057400" cy="1417320"/>
          </a:xfrm>
          <a:prstGeom prst="roundRect">
            <a:avLst/>
          </a:prstGeom>
          <a:solidFill>
            <a:srgbClr val="10151C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62288" y="3154680"/>
            <a:ext cx="960120" cy="256032"/>
          </a:xfrm>
          <a:prstGeom prst="roundRect">
            <a:avLst/>
          </a:prstGeom>
          <a:solidFill>
            <a:srgbClr val="8DB6DE"/>
          </a:solidFill>
          <a:ln w="12700">
            <a:solidFill>
              <a:srgbClr val="8DB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17152" y="3159252"/>
            <a:ext cx="8503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80A0F"/>
                </a:solidFill>
                <a:latin typeface="Aptos"/>
              </a:rPr>
              <a:t>PLAYER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3584448"/>
            <a:ext cx="1645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2EE"/>
                </a:solidFill>
                <a:latin typeface="Aptos"/>
              </a:rPr>
              <a:t>Своя роль:
Мирный житель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11312" y="3639312"/>
            <a:ext cx="777240" cy="0"/>
          </a:xfrm>
          <a:prstGeom prst="line">
            <a:avLst/>
          </a:prstGeom>
          <a:ln w="21590">
            <a:solidFill>
              <a:srgbClr val="D6B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45352" y="4709160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0BC"/>
                </a:solidFill>
                <a:latin typeface="Aptos"/>
              </a:rPr>
              <a:t>Остальные роли не попадают в их снимки.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3312" y="5760720"/>
            <a:ext cx="9372600" cy="384048"/>
          </a:xfrm>
          <a:prstGeom prst="roundRect">
            <a:avLst/>
          </a:prstGeom>
          <a:solidFill>
            <a:srgbClr val="10151C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5797296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6B184"/>
                </a:solidFill>
                <a:latin typeface="Aptos"/>
              </a:rPr>
              <a:t>Важно: clientId — браузерный идентификатор, а не полноценная система аккаунтов или аутентификации.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713232"/>
            <a:ext cx="2011680" cy="201168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34440" y="5897880"/>
            <a:ext cx="2103120" cy="210312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466344"/>
            <a:ext cx="50292" cy="283464"/>
          </a:xfrm>
          <a:prstGeom prst="rect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6344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B184"/>
                </a:solidFill>
                <a:latin typeface="Aptos"/>
              </a:rPr>
              <a:t>06  /  ONLINE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0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55624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17D8C"/>
                </a:solidFill>
                <a:latin typeface="Aptos"/>
              </a:rPr>
              <a:t>MAFIA-2026  /  СЕРВЕРЫ И ОНЛАЙН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07  /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E"/>
                </a:solidFill>
                <a:latin typeface="Aptos"/>
              </a:rPr>
              <a:t>Поднять сервер: Render Blueprint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0BC"/>
                </a:solidFill>
                <a:latin typeface="Aptos"/>
              </a:rPr>
              <a:t>Конфигурация уже лежит в render.yaml и рассчитана на активную ветку проекта.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993392"/>
            <a:ext cx="4892040" cy="38404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2286000"/>
            <a:ext cx="1965960" cy="310896"/>
          </a:xfrm>
          <a:prstGeom prst="roundRect">
            <a:avLst/>
          </a:prstGeom>
          <a:solidFill>
            <a:srgbClr val="D6B184"/>
          </a:solidFill>
          <a:ln w="12700">
            <a:solidFill>
              <a:srgbClr val="D6B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2290572"/>
            <a:ext cx="1856231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0A0F"/>
                </a:solidFill>
                <a:latin typeface="Aptos"/>
              </a:rPr>
              <a:t>ЧТО СОЗДАЁТ 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61488"/>
            <a:ext cx="4206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E"/>
                </a:solidFill>
                <a:latin typeface="Consolas"/>
              </a:rPr>
              <a:t>mafia-git-pages-server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31012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0BC"/>
                </a:solidFill>
                <a:latin typeface="Aptos"/>
              </a:rPr>
              <a:t>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3310128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2EE"/>
                </a:solidFill>
                <a:latin typeface="Aptos"/>
              </a:rPr>
              <a:t>Node.js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73075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0BC"/>
                </a:solidFill>
                <a:latin typeface="Aptos"/>
              </a:rPr>
              <a:t>Region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6272" y="3730752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2EE"/>
                </a:solidFill>
                <a:latin typeface="Aptos"/>
              </a:rPr>
              <a:t>Frankfurt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15137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0BC"/>
                </a:solidFill>
                <a:latin typeface="Aptos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4151376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2EE"/>
                </a:solidFill>
                <a:latin typeface="Consolas"/>
              </a:rPr>
              <a:t>npm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57200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0BC"/>
                </a:solidFill>
                <a:latin typeface="Aptos"/>
              </a:rPr>
              <a:t>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4572000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2EE"/>
                </a:solidFill>
                <a:latin typeface="Consolas"/>
              </a:rPr>
              <a:t>npm 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99262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0BC"/>
                </a:solidFill>
                <a:latin typeface="Aptos"/>
              </a:rPr>
              <a:t>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4992624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2EE"/>
                </a:solidFill>
                <a:latin typeface="Consolas"/>
              </a:rPr>
              <a:t>/health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25312" y="1993392"/>
            <a:ext cx="5532120" cy="38404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2860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DB6DE"/>
                </a:solidFill>
                <a:latin typeface="Aptos"/>
              </a:rPr>
              <a:t>Порядок запуска</a:t>
            </a:r>
          </a:p>
        </p:txBody>
      </p:sp>
      <p:sp>
        <p:nvSpPr>
          <p:cNvPr id="28" name="Oval 27"/>
          <p:cNvSpPr/>
          <p:nvPr/>
        </p:nvSpPr>
        <p:spPr>
          <a:xfrm>
            <a:off x="6236208" y="2871216"/>
            <a:ext cx="292608" cy="292608"/>
          </a:xfrm>
          <a:prstGeom prst="ellipse">
            <a:avLst/>
          </a:prstGeom>
          <a:solidFill>
            <a:srgbClr val="8D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28712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0A0F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852928"/>
            <a:ext cx="43434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F5F2EE"/>
                </a:solidFill>
                <a:latin typeface="Aptos"/>
              </a:rPr>
              <a:t>Render → New → Blueprint</a:t>
            </a:r>
          </a:p>
        </p:txBody>
      </p:sp>
      <p:sp>
        <p:nvSpPr>
          <p:cNvPr id="31" name="Oval 30"/>
          <p:cNvSpPr/>
          <p:nvPr/>
        </p:nvSpPr>
        <p:spPr>
          <a:xfrm>
            <a:off x="6236208" y="3392424"/>
            <a:ext cx="292608" cy="292608"/>
          </a:xfrm>
          <a:prstGeom prst="ellipse">
            <a:avLst/>
          </a:prstGeom>
          <a:solidFill>
            <a:srgbClr val="8D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339242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0A0F"/>
                </a:solidFill>
                <a:latin typeface="Apto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374136"/>
            <a:ext cx="43434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F5F2EE"/>
                </a:solidFill>
                <a:latin typeface="Aptos"/>
              </a:rPr>
              <a:t>Подключить GitHub-репозиторий</a:t>
            </a:r>
          </a:p>
        </p:txBody>
      </p:sp>
      <p:sp>
        <p:nvSpPr>
          <p:cNvPr id="34" name="Oval 33"/>
          <p:cNvSpPr/>
          <p:nvPr/>
        </p:nvSpPr>
        <p:spPr>
          <a:xfrm>
            <a:off x="6236208" y="3913631"/>
            <a:ext cx="292608" cy="292608"/>
          </a:xfrm>
          <a:prstGeom prst="ellipse">
            <a:avLst/>
          </a:prstGeom>
          <a:solidFill>
            <a:srgbClr val="8D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391363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0A0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895344"/>
            <a:ext cx="43434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F5F2EE"/>
                </a:solidFill>
                <a:latin typeface="Aptos"/>
              </a:rPr>
              <a:t>Выбрать ветку arena/49baeaa5-mafia-git-pages</a:t>
            </a:r>
          </a:p>
        </p:txBody>
      </p:sp>
      <p:sp>
        <p:nvSpPr>
          <p:cNvPr id="37" name="Oval 36"/>
          <p:cNvSpPr/>
          <p:nvPr/>
        </p:nvSpPr>
        <p:spPr>
          <a:xfrm>
            <a:off x="6236208" y="4434840"/>
            <a:ext cx="292608" cy="292608"/>
          </a:xfrm>
          <a:prstGeom prst="ellipse">
            <a:avLst/>
          </a:prstGeom>
          <a:solidFill>
            <a:srgbClr val="8D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44348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0A0F"/>
                </a:solidFill>
                <a:latin typeface="Apto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416552"/>
            <a:ext cx="43434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F5F2EE"/>
                </a:solidFill>
                <a:latin typeface="Aptos"/>
              </a:rPr>
              <a:t>Создать сервис и дождаться статуса Live</a:t>
            </a:r>
          </a:p>
        </p:txBody>
      </p:sp>
      <p:sp>
        <p:nvSpPr>
          <p:cNvPr id="40" name="Oval 39"/>
          <p:cNvSpPr/>
          <p:nvPr/>
        </p:nvSpPr>
        <p:spPr>
          <a:xfrm>
            <a:off x="6236208" y="4956048"/>
            <a:ext cx="292608" cy="292608"/>
          </a:xfrm>
          <a:prstGeom prst="ellipse">
            <a:avLst/>
          </a:prstGeom>
          <a:solidFill>
            <a:srgbClr val="69D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6208" y="4956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0A0F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937760"/>
            <a:ext cx="43434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5F2EE"/>
                </a:solidFill>
                <a:latin typeface="Aptos"/>
              </a:rPr>
              <a:t>Скопировать выданный HTTPS-домен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551383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B0BC"/>
                </a:solidFill>
                <a:latin typeface="Aptos"/>
              </a:rPr>
              <a:t>Пуши в настроенную ветку могут запускать новый deploy.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713232"/>
            <a:ext cx="2011680" cy="201168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34440" y="5897880"/>
            <a:ext cx="2103120" cy="210312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466344"/>
            <a:ext cx="50292" cy="283464"/>
          </a:xfrm>
          <a:prstGeom prst="rect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6344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B184"/>
                </a:solidFill>
                <a:latin typeface="Aptos"/>
              </a:rPr>
              <a:t>07  /  ONLINE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0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55624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17D8C"/>
                </a:solidFill>
                <a:latin typeface="Aptos"/>
              </a:rPr>
              <a:t>MAFIA-2026  /  СЕРВЕРЫ И ОНЛАЙН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08  /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E"/>
                </a:solidFill>
                <a:latin typeface="Aptos"/>
              </a:rPr>
              <a:t>Подключить сайт и всех игроков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0BC"/>
                </a:solidFill>
                <a:latin typeface="Aptos"/>
              </a:rPr>
              <a:t>В поле настроек вводится только базовый HTTPS-домен сервиса; транспортный путь добавляет клиент.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29968"/>
            <a:ext cx="5074920" cy="36118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2304288"/>
            <a:ext cx="1691640" cy="310896"/>
          </a:xfrm>
          <a:prstGeom prst="roundRect">
            <a:avLst/>
          </a:prstGeom>
          <a:solidFill>
            <a:srgbClr val="EF536C"/>
          </a:solidFill>
          <a:ln w="12700">
            <a:solidFill>
              <a:srgbClr val="EF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308860"/>
            <a:ext cx="158191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2EE"/>
                </a:solidFill>
                <a:latin typeface="Aptos"/>
              </a:rPr>
              <a:t>1  ·  GITHUB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76148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E"/>
                </a:solidFill>
                <a:latin typeface="Aptos"/>
              </a:rPr>
              <a:t>Статический сайт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355848"/>
            <a:ext cx="42519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2EE"/>
                </a:solidFill>
                <a:latin typeface="Consolas"/>
              </a:rPr>
              <a:t>Settings → Pages
Deploy from a branch
arena/49baeaa5-mafia-git-pages
/(root)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92624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7B0BC"/>
                </a:solidFill>
                <a:latin typeface="Aptos"/>
              </a:rPr>
              <a:t>Origin по умолчанию: https://chibi-slavka.github.io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029968"/>
            <a:ext cx="5074920" cy="36118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47688" y="2304288"/>
            <a:ext cx="1874519" cy="310896"/>
          </a:xfrm>
          <a:prstGeom prst="roundRect">
            <a:avLst/>
          </a:prstGeom>
          <a:solidFill>
            <a:srgbClr val="8DB6DE"/>
          </a:solidFill>
          <a:ln w="12700">
            <a:solidFill>
              <a:srgbClr val="8DB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1" y="2308860"/>
            <a:ext cx="1764791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0A0F"/>
                </a:solidFill>
                <a:latin typeface="Aptos"/>
              </a:rPr>
              <a:t>2  ·  ИГРОВОЙ КЛИЕНТ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76148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E"/>
                </a:solidFill>
                <a:latin typeface="Aptos"/>
              </a:rPr>
              <a:t>Настройки → Connect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383280"/>
            <a:ext cx="4480560" cy="621792"/>
          </a:xfrm>
          <a:prstGeom prst="roundRect">
            <a:avLst/>
          </a:prstGeom>
          <a:solidFill>
            <a:srgbClr val="10151C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538728"/>
            <a:ext cx="4050791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9D0A9"/>
                </a:solidFill>
                <a:latin typeface="Consolas"/>
              </a:rPr>
              <a:t>https://&lt;service&gt;.onrender.com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4297680"/>
            <a:ext cx="4297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E"/>
                </a:solidFill>
                <a:latin typeface="Aptos"/>
              </a:rPr>
              <a:t>Клиент использует /socket.io и event
mafia:message. Не добавляй /ws.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7688" y="5074920"/>
            <a:ext cx="2423160" cy="310896"/>
          </a:xfrm>
          <a:prstGeom prst="roundRect">
            <a:avLst/>
          </a:prstGeom>
          <a:solidFill>
            <a:srgbClr val="1B2430"/>
          </a:solidFill>
          <a:ln w="12700">
            <a:solidFill>
              <a:srgbClr val="1B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1" y="5079492"/>
            <a:ext cx="231343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6B184"/>
                </a:solidFill>
                <a:latin typeface="Aptos"/>
              </a:rPr>
              <a:t>ОДИН АДРЕС ДЛЯ ВСЕХ ИГРОКОВ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806440"/>
            <a:ext cx="10058400" cy="338328"/>
          </a:xfrm>
          <a:prstGeom prst="roundRect">
            <a:avLst/>
          </a:prstGeom>
          <a:solidFill>
            <a:srgbClr val="10151C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6152" y="5824728"/>
            <a:ext cx="9738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6B184"/>
                </a:solidFill>
                <a:latin typeface="Aptos"/>
              </a:rPr>
              <a:t>Собственный домен сайта → добавь его origin в Render → Environment → ALLOWED_ORIGINS.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713232"/>
            <a:ext cx="2011680" cy="201168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34440" y="5897880"/>
            <a:ext cx="2103120" cy="210312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466344"/>
            <a:ext cx="50292" cy="283464"/>
          </a:xfrm>
          <a:prstGeom prst="rect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6344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B184"/>
                </a:solidFill>
                <a:latin typeface="Aptos"/>
              </a:rPr>
              <a:t>08  /  ONLINE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0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55624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17D8C"/>
                </a:solidFill>
                <a:latin typeface="Aptos"/>
              </a:rPr>
              <a:t>MAFIA-2026  /  СЕРВЕРЫ И ОНЛАЙН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09  /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E"/>
                </a:solidFill>
                <a:latin typeface="Aptos"/>
              </a:rPr>
              <a:t>Проверка: от health до первой партии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0BC"/>
                </a:solidFill>
                <a:latin typeface="Aptos"/>
              </a:rPr>
              <a:t>Проверяй сначала сам сервис, затем Socket.IO handshake, затем игровой сценарий в двух браузерах.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12848"/>
            <a:ext cx="2487168" cy="1874519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69D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450592"/>
            <a:ext cx="384048" cy="384048"/>
          </a:xfrm>
          <a:prstGeom prst="ellipse">
            <a:avLst/>
          </a:prstGeom>
          <a:solidFill>
            <a:srgbClr val="69D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50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80A0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68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9D0A9"/>
                </a:solidFill>
                <a:latin typeface="Aptos"/>
              </a:rPr>
              <a:t>СЕРВИС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54096"/>
            <a:ext cx="2057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2EE"/>
                </a:solidFill>
                <a:latin typeface="Aptos"/>
              </a:rPr>
              <a:t>Render показывает
статус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2212848"/>
            <a:ext cx="2487168" cy="1874519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8DB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30752" y="2450592"/>
            <a:ext cx="384048" cy="384048"/>
          </a:xfrm>
          <a:prstGeom prst="ellipse">
            <a:avLst/>
          </a:prstGeom>
          <a:solidFill>
            <a:srgbClr val="8D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2450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80A0F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2468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DB6DE"/>
                </a:solidFill>
                <a:latin typeface="Aptos"/>
              </a:rPr>
              <a:t>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3054096"/>
            <a:ext cx="2057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2EE"/>
                </a:solidFill>
                <a:latin typeface="Aptos"/>
              </a:rPr>
              <a:t>GET /health →
{ ok: true 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2212848"/>
            <a:ext cx="2487168" cy="1874519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D6B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47104" y="2450592"/>
            <a:ext cx="384048" cy="384048"/>
          </a:xfrm>
          <a:prstGeom prst="ellipse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2450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80A0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2468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6B184"/>
                </a:solidFill>
                <a:latin typeface="Aptos"/>
              </a:rPr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3054096"/>
            <a:ext cx="2057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2EE"/>
                </a:solidFill>
                <a:latin typeface="Aptos"/>
              </a:rPr>
              <a:t>В настройках появляется
сообщение о соединении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62288" y="2212848"/>
            <a:ext cx="2487168" cy="1874519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EF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63456" y="2450592"/>
            <a:ext cx="384048" cy="384048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63456" y="2450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F2EE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2468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536C"/>
                </a:solidFill>
                <a:latin typeface="Aptos"/>
              </a:rPr>
              <a:t>2 БРАУЗЕРА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3456" y="3054096"/>
            <a:ext cx="2057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2EE"/>
                </a:solidFill>
                <a:latin typeface="Aptos"/>
              </a:rPr>
              <a:t>Создать комнату →
войти по коду → чат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72000"/>
            <a:ext cx="10881360" cy="1133856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800600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F536C"/>
                </a:solidFill>
                <a:latin typeface="Aptos"/>
              </a:rPr>
              <a:t>Если соединения нет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4754880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E"/>
                </a:solidFill>
                <a:latin typeface="Aptos"/>
              </a:rPr>
              <a:t>1) Проверь домен и статус Render   ·   2) Для Pages используй HTTPS   ·   3) Для своего домена проверь ALLOWED_ORIGINS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943600"/>
            <a:ext cx="10424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7B0BC"/>
                </a:solidFill>
                <a:latin typeface="Aptos"/>
              </a:rPr>
              <a:t>В сетевой игре открой страницу в двух разных профилях браузера: localStorage не общий между окнами инкогнито.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713232"/>
            <a:ext cx="2011680" cy="201168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34440" y="5897880"/>
            <a:ext cx="2103120" cy="2103120"/>
          </a:xfrm>
          <a:prstGeom prst="ellipse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466344"/>
            <a:ext cx="50292" cy="283464"/>
          </a:xfrm>
          <a:prstGeom prst="rect">
            <a:avLst/>
          </a:prstGeom>
          <a:solidFill>
            <a:srgbClr val="D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6344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B184"/>
                </a:solidFill>
                <a:latin typeface="Aptos"/>
              </a:rPr>
              <a:t>09  /  ONLINE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0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55624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17D8C"/>
                </a:solidFill>
                <a:latin typeface="Aptos"/>
              </a:rPr>
              <a:t>MAFIA-2026  /  СЕРВЕРЫ И ОНЛАЙН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7D8C"/>
                </a:solidFill>
                <a:latin typeface="Aptos"/>
              </a:rPr>
              <a:t>10  /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E"/>
                </a:solidFill>
                <a:latin typeface="Aptos"/>
              </a:rPr>
              <a:t>Что уже работает — и что усилить дальше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0BC"/>
                </a:solidFill>
                <a:latin typeface="Aptos"/>
              </a:rPr>
              <a:t>Socket.IO закрывает обмен в реальном времени; продакшен-надёжность требует следующих слоёв.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11680"/>
            <a:ext cx="5074920" cy="36118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2286000"/>
            <a:ext cx="1554480" cy="310896"/>
          </a:xfrm>
          <a:prstGeom prst="roundRect">
            <a:avLst/>
          </a:prstGeom>
          <a:solidFill>
            <a:srgbClr val="69D0A9"/>
          </a:solidFill>
          <a:ln w="12700">
            <a:solidFill>
              <a:srgbClr val="69D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290572"/>
            <a:ext cx="14447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0A0F"/>
                </a:solidFill>
                <a:latin typeface="Aptos"/>
              </a:rPr>
              <a:t>ТЕКУЩАЯ ВЕРСИЯ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7432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E"/>
                </a:solidFill>
                <a:latin typeface="Aptos"/>
              </a:rPr>
              <a:t>Можно тестировать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3429000"/>
            <a:ext cx="77724" cy="77724"/>
          </a:xfrm>
          <a:prstGeom prst="ellipse">
            <a:avLst/>
          </a:prstGeom>
          <a:solidFill>
            <a:srgbClr val="69D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" y="3310128"/>
            <a:ext cx="4096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F5F2EE"/>
                </a:solidFill>
                <a:latin typeface="Aptos"/>
              </a:rPr>
              <a:t>Общие комнаты и список лобби</a:t>
            </a:r>
          </a:p>
        </p:txBody>
      </p:sp>
      <p:sp>
        <p:nvSpPr>
          <p:cNvPr id="18" name="Oval 17"/>
          <p:cNvSpPr/>
          <p:nvPr/>
        </p:nvSpPr>
        <p:spPr>
          <a:xfrm>
            <a:off x="1024128" y="3867911"/>
            <a:ext cx="77724" cy="77724"/>
          </a:xfrm>
          <a:prstGeom prst="ellipse">
            <a:avLst/>
          </a:prstGeom>
          <a:solidFill>
            <a:srgbClr val="69D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6" y="3749039"/>
            <a:ext cx="4096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F5F2EE"/>
                </a:solidFill>
                <a:latin typeface="Aptos"/>
              </a:rPr>
              <a:t>Чат и синхронизация состояния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306824"/>
            <a:ext cx="77724" cy="77724"/>
          </a:xfrm>
          <a:prstGeom prst="ellipse">
            <a:avLst/>
          </a:prstGeom>
          <a:solidFill>
            <a:srgbClr val="69D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5296" y="4187952"/>
            <a:ext cx="4096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F5F2EE"/>
                </a:solidFill>
                <a:latin typeface="Aptos"/>
              </a:rPr>
              <a:t>Серверная выдача скрытых ролей</a:t>
            </a:r>
          </a:p>
        </p:txBody>
      </p:sp>
      <p:sp>
        <p:nvSpPr>
          <p:cNvPr id="22" name="Oval 21"/>
          <p:cNvSpPr/>
          <p:nvPr/>
        </p:nvSpPr>
        <p:spPr>
          <a:xfrm>
            <a:off x="1024128" y="4745736"/>
            <a:ext cx="77724" cy="77724"/>
          </a:xfrm>
          <a:prstGeom prst="ellipse">
            <a:avLst/>
          </a:prstGeom>
          <a:solidFill>
            <a:srgbClr val="69D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25296" y="4626864"/>
            <a:ext cx="4096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F5F2EE"/>
                </a:solidFill>
                <a:latin typeface="Aptos"/>
              </a:rPr>
              <a:t>Фазы, таймеры, действия и голосование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011680"/>
            <a:ext cx="5074920" cy="3611880"/>
          </a:xfrm>
          <a:prstGeom prst="roundRect">
            <a:avLst/>
          </a:prstGeom>
          <a:solidFill>
            <a:srgbClr val="141A23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47688" y="2286000"/>
            <a:ext cx="1828800" cy="310896"/>
          </a:xfrm>
          <a:prstGeom prst="roundRect">
            <a:avLst/>
          </a:prstGeom>
          <a:solidFill>
            <a:srgbClr val="EF536C"/>
          </a:solidFill>
          <a:ln w="12700">
            <a:solidFill>
              <a:srgbClr val="EF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1" y="2290572"/>
            <a:ext cx="171907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2EE"/>
                </a:solidFill>
                <a:latin typeface="Aptos"/>
              </a:rPr>
              <a:t>СЛЕДУЮЩИЙ УРОВЕНЬ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27432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E"/>
                </a:solidFill>
                <a:latin typeface="Aptos"/>
              </a:rPr>
              <a:t>Для устойчивого продакшена</a:t>
            </a:r>
          </a:p>
        </p:txBody>
      </p:sp>
      <p:sp>
        <p:nvSpPr>
          <p:cNvPr id="28" name="Oval 27"/>
          <p:cNvSpPr/>
          <p:nvPr/>
        </p:nvSpPr>
        <p:spPr>
          <a:xfrm>
            <a:off x="6647688" y="3429000"/>
            <a:ext cx="77724" cy="77724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48855" y="3310128"/>
            <a:ext cx="40965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F5F2EE"/>
                </a:solidFill>
                <a:latin typeface="Aptos"/>
              </a:rPr>
              <a:t>База данных: комнаты и история не в памяти процесса</a:t>
            </a:r>
          </a:p>
        </p:txBody>
      </p:sp>
      <p:sp>
        <p:nvSpPr>
          <p:cNvPr id="30" name="Oval 29"/>
          <p:cNvSpPr/>
          <p:nvPr/>
        </p:nvSpPr>
        <p:spPr>
          <a:xfrm>
            <a:off x="6647688" y="3904488"/>
            <a:ext cx="77724" cy="77724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48855" y="3785616"/>
            <a:ext cx="40965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F5F2EE"/>
                </a:solidFill>
                <a:latin typeface="Aptos"/>
              </a:rPr>
              <a:t>Аккаунты и проверенная идентичность игрока</a:t>
            </a:r>
          </a:p>
        </p:txBody>
      </p:sp>
      <p:sp>
        <p:nvSpPr>
          <p:cNvPr id="32" name="Oval 31"/>
          <p:cNvSpPr/>
          <p:nvPr/>
        </p:nvSpPr>
        <p:spPr>
          <a:xfrm>
            <a:off x="6647688" y="4379976"/>
            <a:ext cx="77724" cy="77724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48855" y="4261104"/>
            <a:ext cx="40965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F5F2EE"/>
                </a:solidFill>
                <a:latin typeface="Aptos"/>
              </a:rPr>
              <a:t>Мониторинг, лимиты и восстановление после рестарта</a:t>
            </a:r>
          </a:p>
        </p:txBody>
      </p:sp>
      <p:sp>
        <p:nvSpPr>
          <p:cNvPr id="34" name="Oval 33"/>
          <p:cNvSpPr/>
          <p:nvPr/>
        </p:nvSpPr>
        <p:spPr>
          <a:xfrm>
            <a:off x="6647688" y="4855464"/>
            <a:ext cx="77724" cy="77724"/>
          </a:xfrm>
          <a:prstGeom prst="ellipse">
            <a:avLst/>
          </a:prstGeom>
          <a:solidFill>
            <a:srgbClr val="EF5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48855" y="4736592"/>
            <a:ext cx="40965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F5F2EE"/>
                </a:solidFill>
                <a:latin typeface="Aptos"/>
              </a:rPr>
              <a:t>План Render с подходящими ресурсами и масштабированием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" y="5815584"/>
            <a:ext cx="9692640" cy="329184"/>
          </a:xfrm>
          <a:prstGeom prst="roundRect">
            <a:avLst/>
          </a:prstGeom>
          <a:solidFill>
            <a:srgbClr val="10151C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5833872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6B184"/>
                </a:solidFill>
                <a:latin typeface="Aptos"/>
              </a:rPr>
              <a:t>Сейчас: поднять Render Blueprint → включить Pages → подключить два браузера → сыграть тестовую партию.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Мафия онлайн: серверы и обмен данными</dc:title>
  <dc:subject>GitHub Pages, Render и Socket.IO в проекте Mafia-2026</dc:subject>
  <dc:creator>MAFIA project</dc:creator>
  <cp:keywords>Mafia-2026, Render, Socket.IO, GitHub Pages, online multiplayer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